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51F545-1046-4183-8A71-BA50108DB3ED}" v="25" dt="2025-11-19T18:22:15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4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0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64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1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1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2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9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2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6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3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25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11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2" r:id="rId6"/>
    <p:sldLayoutId id="2147483788" r:id="rId7"/>
    <p:sldLayoutId id="2147483789" r:id="rId8"/>
    <p:sldLayoutId id="2147483790" r:id="rId9"/>
    <p:sldLayoutId id="2147483791" r:id="rId10"/>
    <p:sldLayoutId id="21474837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UjLIzFlytQ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Neon 3D circle art">
            <a:extLst>
              <a:ext uri="{FF2B5EF4-FFF2-40B4-BE49-F238E27FC236}">
                <a16:creationId xmlns:a16="http://schemas.microsoft.com/office/drawing/2014/main" id="{64E2D12B-550B-ADA8-A067-2E0E8A9721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6539" r="9091" b="1943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3FBC4F-4EBF-2C5C-738C-248220B88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PROG6212 POE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ST10460792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FF14B-3236-A69C-D1D0-9E97D5ED6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Goshen Mtambo</a:t>
            </a:r>
          </a:p>
          <a:p>
            <a:r>
              <a:rPr lang="en-US">
                <a:solidFill>
                  <a:srgbClr val="FFFFFF"/>
                </a:solidFill>
              </a:rPr>
              <a:t>Group 3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764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4C997-144E-5FF5-1025-0B91F287FB00}"/>
              </a:ext>
            </a:extLst>
          </p:cNvPr>
          <p:cNvSpPr txBox="1"/>
          <p:nvPr/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Introduction &amp; Value Proposition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C7ED3-E4FE-90FA-C09B-6F5D54F71389}"/>
              </a:ext>
            </a:extLst>
          </p:cNvPr>
          <p:cNvSpPr txBox="1"/>
          <p:nvPr/>
        </p:nvSpPr>
        <p:spPr>
          <a:xfrm>
            <a:off x="640079" y="2633472"/>
            <a:ext cx="10890929" cy="3666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The Challenge: Manual claim processing is time-consuming, prone to calculation errors, and lacks transparency for lecturers.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The Solution: The CMCS is a centralized web application that digitizes the entire workflow.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Key Benefits: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Efficiency: Automates calculations and reporting.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Accuracy: Enforces policy limits (e.g., max hours).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Security: Role-based access and encrypted document storage.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7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DD983-6808-E582-FF3A-834205AC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67906-42D8-6194-C983-C03D8BAA5C96}"/>
              </a:ext>
            </a:extLst>
          </p:cNvPr>
          <p:cNvSpPr txBox="1"/>
          <p:nvPr/>
        </p:nvSpPr>
        <p:spPr>
          <a:xfrm>
            <a:off x="640080" y="1371600"/>
            <a:ext cx="5852160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>
                <a:latin typeface="+mj-lt"/>
                <a:ea typeface="+mj-ea"/>
                <a:cs typeface="+mj-cs"/>
              </a:rPr>
              <a:t>Evolution from Part 2 to Part 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142564-F572-C0FD-503B-F74E0CF8DF95}"/>
              </a:ext>
            </a:extLst>
          </p:cNvPr>
          <p:cNvSpPr txBox="1"/>
          <p:nvPr/>
        </p:nvSpPr>
        <p:spPr>
          <a:xfrm>
            <a:off x="640080" y="2633236"/>
            <a:ext cx="5852160" cy="3664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/>
              <a:t>Based on feedback and new requirements, the system has been significantly upgraded: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170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/>
              <a:t>Enterprise Database: Migrated from SQLite to MS SQL Server for scalability.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/>
              <a:t>New HR Super User: Centralized management of user profiles and pay rates.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/>
              <a:t>Automation: Implemented auto-calculations and automated verification flagging.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/>
              <a:t>Security: Added AES-256 encryption for all uploaded documents.</a:t>
            </a:r>
          </a:p>
        </p:txBody>
      </p:sp>
      <p:pic>
        <p:nvPicPr>
          <p:cNvPr id="6" name="Picture 5" descr="A digital stock market graph">
            <a:extLst>
              <a:ext uri="{FF2B5EF4-FFF2-40B4-BE49-F238E27FC236}">
                <a16:creationId xmlns:a16="http://schemas.microsoft.com/office/drawing/2014/main" id="{1649A5AD-EB04-5CDF-47C4-63471D61E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09" r="10837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5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8A0A9-B4A1-4B40-1547-90B51BC1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CE2D0-AAC7-DFCE-F454-A863AC729347}"/>
              </a:ext>
            </a:extLst>
          </p:cNvPr>
          <p:cNvSpPr txBox="1"/>
          <p:nvPr/>
        </p:nvSpPr>
        <p:spPr>
          <a:xfrm>
            <a:off x="640080" y="1371600"/>
            <a:ext cx="573785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latin typeface="+mj-lt"/>
                <a:ea typeface="+mj-ea"/>
                <a:cs typeface="+mj-cs"/>
              </a:rPr>
              <a:t>Automated Claim Submission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8B75ED-D8B5-A339-8AAE-18F1A43A1101}"/>
              </a:ext>
            </a:extLst>
          </p:cNvPr>
          <p:cNvSpPr txBox="1"/>
          <p:nvPr/>
        </p:nvSpPr>
        <p:spPr>
          <a:xfrm>
            <a:off x="640080" y="2633236"/>
            <a:ext cx="5737860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The submission process is now automated to reduce errors: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Auto-Fill: Lecturer Name and Hourly Rate are pulled directly from the HR profile and cannot be tampered with.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Real-Time Calculation: Total amount calculates instantly via JavaScript as hours are entered.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Policy Validation: The system automatically blocks claims exceeding 180 hours/month.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E13A44-98EE-A5E8-47F7-202AEF0F6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79" y="2055662"/>
            <a:ext cx="4375829" cy="424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3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7545A-01F1-6970-3316-F89B46D5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446567-0564-06DD-DCF2-557FA7CEA00E}"/>
              </a:ext>
            </a:extLst>
          </p:cNvPr>
          <p:cNvSpPr txBox="1"/>
          <p:nvPr/>
        </p:nvSpPr>
        <p:spPr>
          <a:xfrm>
            <a:off x="3049250" y="467406"/>
            <a:ext cx="6679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Automated Verification &amp; Approval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4D82E-2F07-078C-224E-CD85D677A9F6}"/>
              </a:ext>
            </a:extLst>
          </p:cNvPr>
          <p:cNvSpPr txBox="1"/>
          <p:nvPr/>
        </p:nvSpPr>
        <p:spPr>
          <a:xfrm>
            <a:off x="0" y="1675072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 Approver Queue now features smart flagging to streamline review: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Automated Checks: The system instantly analyzes claims against predefined criteria.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Visual Alerts: Claims over R10,000 or 100 hours are highlighted in Amber with specific warning badges (e.g., "High Value").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Efficiency: Managers can prioritize "safe" claims and focus scrutiny on flagged items.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F8A9B-6409-7915-62F9-1F2F4D134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1" y="3429000"/>
            <a:ext cx="10755226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6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E33FF-4D43-BA2F-DE73-3AD96E1F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5FAC01-1FA0-2C3A-875F-EABA5B2FF1A0}"/>
              </a:ext>
            </a:extLst>
          </p:cNvPr>
          <p:cNvSpPr txBox="1"/>
          <p:nvPr/>
        </p:nvSpPr>
        <p:spPr>
          <a:xfrm>
            <a:off x="3049250" y="467406"/>
            <a:ext cx="7413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Centralized User &amp; Data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4C8FB-E68F-39DE-E64F-5B654D98AC3C}"/>
              </a:ext>
            </a:extLst>
          </p:cNvPr>
          <p:cNvSpPr txBox="1"/>
          <p:nvPr/>
        </p:nvSpPr>
        <p:spPr>
          <a:xfrm>
            <a:off x="149902" y="118398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new HR Role allows for centralized control over personnel 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Management:</a:t>
            </a:r>
            <a:r>
              <a:rPr lang="en-US" dirty="0"/>
              <a:t> HR creates accounts and sets verified Hourly Rates, removing manual entry risks for lecturers.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Integrity:</a:t>
            </a:r>
            <a:r>
              <a:rPr lang="en-US" dirty="0"/>
              <a:t> Ensures that the rate used for calculations is always the official contract rate.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60980-C90D-6D17-C7C2-045705523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2239119"/>
            <a:ext cx="1080285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52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3D7F-B94B-9C26-2E0B-CC3B7408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E1495-58C1-B462-9ECB-B07A668AB50E}"/>
              </a:ext>
            </a:extLst>
          </p:cNvPr>
          <p:cNvSpPr txBox="1"/>
          <p:nvPr/>
        </p:nvSpPr>
        <p:spPr>
          <a:xfrm>
            <a:off x="3049250" y="467406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Automated Payment Reporting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1AC0C-2796-DF9D-AAB4-2BEB475A9DC4}"/>
              </a:ext>
            </a:extLst>
          </p:cNvPr>
          <p:cNvSpPr txBox="1"/>
          <p:nvPr/>
        </p:nvSpPr>
        <p:spPr>
          <a:xfrm>
            <a:off x="477186" y="1287712"/>
            <a:ext cx="110952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system eliminates manual invoice creation: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One-Click Generation:</a:t>
            </a:r>
            <a:r>
              <a:rPr lang="en-US" dirty="0"/>
              <a:t> HR can instantly generate a payment report for all "Approved" claims.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Professional Formatting:</a:t>
            </a:r>
            <a:r>
              <a:rPr lang="en-US" dirty="0"/>
              <a:t> Generates a clean, invoice-style summary suitable for finance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Auto-Summing:</a:t>
            </a:r>
            <a:r>
              <a:rPr lang="en-US" dirty="0"/>
              <a:t> Automatically calculates the Grand Total Payout.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127244-DFC9-A45B-1C18-296C625E2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2723573"/>
            <a:ext cx="10478962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B836-1468-1942-5D03-BE852023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14C3E2-AC50-AE46-C36B-6EE0D7732BF1}"/>
              </a:ext>
            </a:extLst>
          </p:cNvPr>
          <p:cNvSpPr txBox="1"/>
          <p:nvPr/>
        </p:nvSpPr>
        <p:spPr>
          <a:xfrm>
            <a:off x="3049249" y="467406"/>
            <a:ext cx="65744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Technical Implementation &amp; Quality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9326A-F8A6-4E43-AF17-3E1C68C54AFF}"/>
              </a:ext>
            </a:extLst>
          </p:cNvPr>
          <p:cNvSpPr txBox="1"/>
          <p:nvPr/>
        </p:nvSpPr>
        <p:spPr>
          <a:xfrm>
            <a:off x="240466" y="1453807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 Stack: ASP.NET Core 9.0 MVC, Entity Framework Core, MS SQL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Security: ASP.NET Core Identity for Authentication &amp; Authorization.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Reliability: Core business logic is verified by 8 Unit Tests covering all CRUD and automation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 Control: Developed with Git, featuring a comprehensive history of 10+ commits.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9F32B-04DC-20CF-64AB-CEDE9A679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6" y="2845530"/>
            <a:ext cx="11174384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54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40D07-F53A-5D20-C80A-CEDCD9A0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54683-C515-0127-565B-060ED9B5A415}"/>
              </a:ext>
            </a:extLst>
          </p:cNvPr>
          <p:cNvSpPr txBox="1"/>
          <p:nvPr/>
        </p:nvSpPr>
        <p:spPr>
          <a:xfrm>
            <a:off x="5496821" y="1371600"/>
            <a:ext cx="6034187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6" name="Picture 5" descr="Pen placed on top of a signature line">
            <a:extLst>
              <a:ext uri="{FF2B5EF4-FFF2-40B4-BE49-F238E27FC236}">
                <a16:creationId xmlns:a16="http://schemas.microsoft.com/office/drawing/2014/main" id="{F338F2C3-CA78-7B2C-D23C-E37E62E7D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03" r="1414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1B5C0-A525-78FE-CD1A-8CF38666A50F}"/>
              </a:ext>
            </a:extLst>
          </p:cNvPr>
          <p:cNvSpPr txBox="1"/>
          <p:nvPr/>
        </p:nvSpPr>
        <p:spPr>
          <a:xfrm>
            <a:off x="5496821" y="2633236"/>
            <a:ext cx="6034187" cy="3664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/>
              <a:t>The Contract Monthly Claim System successfully transforms a manual, error-prone process into a secure, automated digital workflow. It meets all requirements for data integrity, role separation, and administrative efficiency.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 err="1"/>
              <a:t>Youtube</a:t>
            </a:r>
            <a:r>
              <a:rPr lang="en-US" dirty="0"/>
              <a:t> Video: </a:t>
            </a:r>
            <a:r>
              <a:rPr lang="en-US" dirty="0">
                <a:hlinkClick r:id="rId3"/>
              </a:rPr>
              <a:t>https://youtu.be/RUjLIzFlytQ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77746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A5EFD1-6438-4D6A-BE39-74B6751E4BE6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f51a16-e45b-4166-9629-d072d2e388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4F3DB07A60034DB729695570F2F9D1" ma:contentTypeVersion="10" ma:contentTypeDescription="Create a new document." ma:contentTypeScope="" ma:versionID="5c0c2abfc7b521d9613021323fa6a6ce">
  <xsd:schema xmlns:xsd="http://www.w3.org/2001/XMLSchema" xmlns:xs="http://www.w3.org/2001/XMLSchema" xmlns:p="http://schemas.microsoft.com/office/2006/metadata/properties" xmlns:ns3="daf51a16-e45b-4166-9629-d072d2e38879" targetNamespace="http://schemas.microsoft.com/office/2006/metadata/properties" ma:root="true" ma:fieldsID="b510a5641f15be3410c31af8c0c00f38" ns3:_="">
    <xsd:import namespace="daf51a16-e45b-4166-9629-d072d2e388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51a16-e45b-4166-9629-d072d2e388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4693CF-9E14-459A-9AD2-EF53D066385C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daf51a16-e45b-4166-9629-d072d2e38879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C8A57A-1639-4E03-972A-6FC52B061E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6749D0-2387-456E-879D-0F9C9CFFCC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51a16-e45b-4166-9629-d072d2e388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10c8f44-f469-448f-bc0d-d781288ff01b}" enabled="0" method="" siteId="{e10c8f44-f469-448f-bc0d-d781288ff0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494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PROG6212 POE ST10460792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Goshen Mtambo</dc:creator>
  <cp:lastModifiedBy>Goshen Mtambo</cp:lastModifiedBy>
  <cp:revision>2</cp:revision>
  <dcterms:created xsi:type="dcterms:W3CDTF">2025-11-19T09:30:40Z</dcterms:created>
  <dcterms:modified xsi:type="dcterms:W3CDTF">2025-11-19T18:39:24Z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0x010100C74F3DB07A60034DB729695570F2F9D1</vt:lpwstr>
  </property>
</Properties>
</file>